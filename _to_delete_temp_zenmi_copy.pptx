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15" r:id="rId2"/>
    <p:sldId id="258" r:id="rId3"/>
    <p:sldId id="297" r:id="rId4"/>
    <p:sldId id="309" r:id="rId5"/>
    <p:sldId id="311" r:id="rId6"/>
    <p:sldId id="263" r:id="rId7"/>
    <p:sldId id="281" r:id="rId8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401"/>
    <a:srgbClr val="DF3033"/>
    <a:srgbClr val="4581F4"/>
    <a:srgbClr val="37B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993"/>
  </p:normalViewPr>
  <p:slideViewPr>
    <p:cSldViewPr snapToGrid="0">
      <p:cViewPr varScale="1">
        <p:scale>
          <a:sx n="95" d="100"/>
          <a:sy n="95" d="100"/>
        </p:scale>
        <p:origin x="27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28BE2-E4FD-AF46-BAD6-E8716A18E26D}" type="datetimeFigureOut">
              <a:rPr lang="en-JP" smtClean="0"/>
              <a:t>08/24/2026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1519D-1776-1B4A-9722-FBFDBA327C3F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487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61790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A933-FAD9-5B15-6B7D-24404789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4EE13482-900B-0747-6F8C-3411ACC3A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229EE9CD-ECC1-254E-6FEC-02E0C1060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16D86C96-F3AC-7A1E-28A6-08195C885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68190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CF07-AF7F-CDF9-6636-49ED8451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>
            <a:extLst>
              <a:ext uri="{FF2B5EF4-FFF2-40B4-BE49-F238E27FC236}">
                <a16:creationId xmlns:a16="http://schemas.microsoft.com/office/drawing/2014/main" id="{6D9948EE-92DC-B5B8-F63E-9F66999A5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16BE110D-AE25-BF0C-6C69-19A8E3840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0A2B088F-D14B-AE00-22CC-D780ACD65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46404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B835-1001-5984-F9D4-3F4EB536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1675-891D-B629-80DF-2D7F49D41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223B4-0394-BE2B-68CD-3D1D171BE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BECE8-B470-4D9D-FAF9-0BEA2B5A6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80688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C34E-0E3A-D6A2-0722-F98793DE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975C5-F9A6-C4D3-623B-A67E7BECF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4F36E-A089-82DE-4A55-E9D495A00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5E65A-E169-DB94-B04B-9FDB3B536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4842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E064-78FC-0D3C-DAF2-81AC2690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C8167-E587-6A8B-38F3-C1A360C30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F9A22-679F-99A8-AD5C-ABBF7D1F2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BA95E-9143-B321-8400-365ABEA79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519D-1776-1B4A-9722-FBFDBA327C3F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9241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F6FD-F92E-3EF1-F21C-A401891FE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32486-085A-0E1F-1A60-EE9D2203B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585F-7E17-12BB-4BD7-D5F27163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5B7B-74B6-2D4D-BCFF-85FC5A2764E2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9C94-3EF6-1C83-E5B2-330E2E92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4BAC4-F313-1316-CE8D-DF9C2D61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0401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AAF6-5667-DF33-A00C-BEA83FC6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784E2-5A1C-8C80-0082-92A82059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353D-7261-477B-0F6A-C5D91F8A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2565D-EE52-434F-A12A-1716FCFB43A4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97EC-0600-4AEE-C310-E511F43D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4B1B-7420-D699-3CB8-3D82E18C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7434" y="6356350"/>
            <a:ext cx="2743200" cy="365125"/>
          </a:xfrm>
        </p:spPr>
        <p:txBody>
          <a:bodyPr/>
          <a:lstStyle>
            <a:lvl1pPr>
              <a:defRPr b="1"/>
            </a:lvl1pPr>
          </a:lstStyle>
          <a:p>
            <a:fld id="{26A70431-9BB1-4746-95C8-3F9132914253}" type="slidenum">
              <a:rPr lang="en-JP" smtClean="0"/>
              <a:pPr/>
              <a:t>‹#›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31015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DD91-4B09-76F6-BCC9-6CC3ED08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7805-34B5-DBF0-C002-2B855E239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222BE-E075-51C9-7D93-F4A26BE8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C0A0-8205-FD49-B6E3-1DD9E079EBAA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E4C23-145B-D249-E5D5-43DBC706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57B-B4F7-8A45-EA7A-74C9421A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6919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77C9-E82A-EC40-7A11-597AE029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5C06-5FB0-F535-3FE7-E2F1D1E07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5A6D2-7947-9836-20BC-B9CD06294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527E0-3148-C6E4-25CA-ED92FE58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FE6CD-7F14-4749-8FA8-70E0BBFB75FE}" type="datetime1">
              <a:rPr lang="en-US" smtClean="0"/>
              <a:t>8/24/2026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8ACA-557F-02F8-F761-3F1B2E6B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6391F-99ED-9400-E984-8636992C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218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2491-C989-7ED6-4B2D-408E6078A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1BE3B-D2BE-A84D-9A05-C61064BF4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3B83E-5E92-FF4B-ADB8-C439A6603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357D-9FF3-7F5F-4D83-7EEE92932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4A931-2CA6-0E55-0E6F-505F4159E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73008-B70A-EE88-D8BA-36A498BE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57A4-D6DF-1B4A-8C36-1859E8909890}" type="datetime1">
              <a:rPr lang="en-US" smtClean="0"/>
              <a:t>8/24/2026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9E00D-60BD-3FC2-0F9C-100BCCAE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51DEC-7546-DB7B-9337-B93DEA58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595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B021-DBE5-62EA-7E83-BFD9FD9E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C09C2-9A05-E883-62F2-FE6A988D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84AA0-3BAF-6344-8B47-6A1C3255AFCD}" type="datetime1">
              <a:rPr lang="en-US" smtClean="0"/>
              <a:t>8/24/2026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7E70E-B26D-9687-F4F8-A6AEFA78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33536-52A3-C2EC-8FBD-6E06A1CE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6711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D927C-3249-25D4-D961-FFAE8FCE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8C0A-E35E-F641-8DC2-0081F5B1CA45}" type="datetime1">
              <a:rPr lang="en-US" smtClean="0"/>
              <a:t>8/24/2026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D3913-4FB3-C646-4C36-EE3709EC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4F831-FD18-A6B4-0A70-6B5CF4A8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0482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1913-0609-20C9-9600-0D20830B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1B50-8F6F-B16E-EE1D-48039BD7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43405-54F9-A76B-A461-804C047FB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60A79-F74F-49BC-9E76-760CA52D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EEE5-A4EF-6B4F-9FCB-AC9C177CA175}" type="datetime1">
              <a:rPr lang="en-US" smtClean="0"/>
              <a:t>8/24/2026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5D68F-9542-7F0B-0710-FB77FE09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4DE78-C8E8-B8F9-B5AE-645D14B3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4566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59D2-26C7-124A-D3C5-9563F043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27BCD-B242-DCD3-AFB5-830B2FCAA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C8D3E-9CD6-44DB-6EFD-1F673D41B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5C072-DC22-07EC-D64A-8D4EA943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766D0-D3D7-C348-B089-EE3C9DCA8C83}" type="datetime1">
              <a:rPr lang="en-US" smtClean="0"/>
              <a:t>8/24/2026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99EF2-EE19-FCEC-CD35-BDA345D7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1079A-F3FF-5F0A-D71E-1E564AAE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3787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4212-8E79-EA10-E349-A91893EA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C456D-321C-2EFC-590A-E1697D0A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1274E-A609-8CBA-249B-BD65BA943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6323-A56F-E14F-9844-42D00C2A815D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393B1-A1AD-205F-6B9E-363B86B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8F99A-3992-3557-56B3-E94076EB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8300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CD78A-A08B-5BC5-B0A1-EF93C5462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A491E-34FE-E420-0F67-B9AFB8DD3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4A602-A432-8D4A-7660-3531D577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C7A5-13E9-AE45-88EA-93C6CD0B88F7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D161A-2A4D-DBEA-25B8-A9B985BC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F83E-DDBC-5E6E-BC74-8A5EF51E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5863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B7F96-53F0-1E23-1C78-C1290636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91059-25A3-21A6-4D69-83EA2815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ED86-2AE1-B482-CC89-2E4262B87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839B0-9379-824A-BFE0-607833594A5F}" type="datetime1">
              <a:rPr lang="en-US" smtClean="0"/>
              <a:t>8/24/2026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72243-F545-BB23-A92F-1E82E01AE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BABF-1E62-14E3-19F4-2F44D5F3E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70431-9BB1-4746-95C8-3F91329142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5805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drive.google.com/file/d/16r6rSmZnSvYXKSMKIP0x-qNjfeOaoUlh/view?usp=drive_lin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B50CFC-8FA4-F280-3CD4-357BB2CE7DCE}"/>
              </a:ext>
            </a:extLst>
          </p:cNvPr>
          <p:cNvSpPr txBox="1"/>
          <p:nvPr/>
        </p:nvSpPr>
        <p:spPr>
          <a:xfrm>
            <a:off x="568403" y="529901"/>
            <a:ext cx="68269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4400" b="1" dirty="0">
                <a:cs typeface="Segoe UI Black" panose="020B0502040204020203" pitchFamily="34" charset="0"/>
              </a:rPr>
              <a:t>Research Progress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C31E6-4B91-DC8B-C298-AAD334F808BA}"/>
              </a:ext>
            </a:extLst>
          </p:cNvPr>
          <p:cNvSpPr txBox="1"/>
          <p:nvPr/>
        </p:nvSpPr>
        <p:spPr>
          <a:xfrm>
            <a:off x="568403" y="2976703"/>
            <a:ext cx="3132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Raditya Aryabudhi Ramadhan</a:t>
            </a:r>
            <a:endParaRPr lang="en-JP" dirty="0"/>
          </a:p>
          <a:p>
            <a:r>
              <a:rPr lang="en-US" dirty="0"/>
              <a:t>Visiting Student</a:t>
            </a:r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3BEEB-CFB2-D5ED-39ED-05E09D5B1C2C}"/>
              </a:ext>
            </a:extLst>
          </p:cNvPr>
          <p:cNvSpPr txBox="1"/>
          <p:nvPr/>
        </p:nvSpPr>
        <p:spPr>
          <a:xfrm>
            <a:off x="568403" y="1299342"/>
            <a:ext cx="4998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Period of Time: </a:t>
            </a:r>
            <a:r>
              <a:rPr lang="en-US" dirty="0"/>
              <a:t>10 August 2026 –  24 August 2026</a:t>
            </a:r>
          </a:p>
        </p:txBody>
      </p:sp>
      <p:pic>
        <p:nvPicPr>
          <p:cNvPr id="9" name="Picture 4" descr="Ensemble methods: bagging, boosting and stacking | by Joseph Rocca |  Towards Data Science">
            <a:extLst>
              <a:ext uri="{FF2B5EF4-FFF2-40B4-BE49-F238E27FC236}">
                <a16:creationId xmlns:a16="http://schemas.microsoft.com/office/drawing/2014/main" id="{C94BDFCD-1253-6673-C845-04584689B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387"/>
          <a:stretch/>
        </p:blipFill>
        <p:spPr bwMode="auto">
          <a:xfrm>
            <a:off x="7869638" y="0"/>
            <a:ext cx="4370407" cy="6858000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2" name="Gambar 1" descr="aps_logo_JAIST-approved | Okinawa Institute of Science and ...">
            <a:extLst>
              <a:ext uri="{FF2B5EF4-FFF2-40B4-BE49-F238E27FC236}">
                <a16:creationId xmlns:a16="http://schemas.microsoft.com/office/drawing/2014/main" id="{E0B212F8-B06F-D9B1-D31F-C7C708F13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81" y="5447375"/>
            <a:ext cx="1993927" cy="104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010C-2A77-E857-1316-E06C7BB9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D5A0B-6CBB-EB74-B442-5B65E69F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2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288A2-D1FC-88E7-C61C-E30491FEEE3A}"/>
              </a:ext>
            </a:extLst>
          </p:cNvPr>
          <p:cNvSpPr txBox="1"/>
          <p:nvPr/>
        </p:nvSpPr>
        <p:spPr>
          <a:xfrm>
            <a:off x="386232" y="363682"/>
            <a:ext cx="4218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b="1" dirty="0"/>
              <a:t>Research Overview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F6B7CA-57E6-260B-CBAF-B9F0DB755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685013"/>
              </p:ext>
            </p:extLst>
          </p:nvPr>
        </p:nvGraphicFramePr>
        <p:xfrm>
          <a:off x="386233" y="1259993"/>
          <a:ext cx="9350050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893">
                  <a:extLst>
                    <a:ext uri="{9D8B030D-6E8A-4147-A177-3AD203B41FA5}">
                      <a16:colId xmlns:a16="http://schemas.microsoft.com/office/drawing/2014/main" val="731545206"/>
                    </a:ext>
                  </a:extLst>
                </a:gridCol>
                <a:gridCol w="248194">
                  <a:extLst>
                    <a:ext uri="{9D8B030D-6E8A-4147-A177-3AD203B41FA5}">
                      <a16:colId xmlns:a16="http://schemas.microsoft.com/office/drawing/2014/main" val="2674769939"/>
                    </a:ext>
                  </a:extLst>
                </a:gridCol>
                <a:gridCol w="7175963">
                  <a:extLst>
                    <a:ext uri="{9D8B030D-6E8A-4147-A177-3AD203B41FA5}">
                      <a16:colId xmlns:a16="http://schemas.microsoft.com/office/drawing/2014/main" val="465209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Research Title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Introducing Research from Indonesia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90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Latest Task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a clear explanation of the research conducted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75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Brief Summary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Explaining the Manual Testing Process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Explaining the Issues with Manual Testing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Explaining the Automated Testing Framework That Was Created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1" dirty="0"/>
                        <a:t>Identifying a new issue related to the excessive computational costs of running the existing solution</a:t>
                      </a:r>
                      <a:endParaRPr lang="en-ID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73524"/>
                  </a:ext>
                </a:extLst>
              </a:tr>
            </a:tbl>
          </a:graphicData>
        </a:graphic>
      </p:graphicFrame>
      <p:pic>
        <p:nvPicPr>
          <p:cNvPr id="1028" name="Picture 4" descr="Road Vectors &amp; Illustrations for Free Download | Freepik">
            <a:extLst>
              <a:ext uri="{FF2B5EF4-FFF2-40B4-BE49-F238E27FC236}">
                <a16:creationId xmlns:a16="http://schemas.microsoft.com/office/drawing/2014/main" id="{4795112C-33D4-ED93-A4A6-D99A4129C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355" y="4466961"/>
            <a:ext cx="3732645" cy="239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23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CFDE2E-C5D3-A823-965C-6ADCFD7E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4A751-9D91-A06F-25FF-9F1EF921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id-ID" noProof="0" smtClean="0"/>
              <a:t>3</a:t>
            </a:fld>
            <a:endParaRPr lang="id-ID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B25C0-3C0B-C470-F522-0257E2A0CE20}"/>
              </a:ext>
            </a:extLst>
          </p:cNvPr>
          <p:cNvSpPr txBox="1"/>
          <p:nvPr/>
        </p:nvSpPr>
        <p:spPr>
          <a:xfrm>
            <a:off x="243840" y="120136"/>
            <a:ext cx="5468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noProof="0" dirty="0"/>
              <a:t>Current Testing Workflow</a:t>
            </a:r>
            <a:endParaRPr lang="id-ID" sz="3600" b="1" noProof="0" dirty="0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CF62A9D3-91EB-DEA7-4E44-1AEE95109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7013"/>
            <a:ext cx="12192000" cy="2343973"/>
          </a:xfrm>
          <a:prstGeom prst="rect">
            <a:avLst/>
          </a:prstGeom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C616E1B5-C570-C775-E55F-B48410A4D09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6231" y="6168574"/>
            <a:ext cx="11092177" cy="375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id-ID" sz="1400" b="0" i="1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</a:t>
            </a:r>
            <a:r>
              <a:rPr kumimoji="0" lang="id-ID" sz="1400" b="0" i="1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400" i="1" dirty="0" err="1">
                <a:latin typeface="Arial" panose="020B0604020202020204" pitchFamily="34" charset="0"/>
              </a:rPr>
              <a:t>Wawancara</a:t>
            </a:r>
            <a:r>
              <a:rPr lang="en-US" sz="1400" i="1" dirty="0">
                <a:latin typeface="Arial" panose="020B0604020202020204" pitchFamily="34" charset="0"/>
              </a:rPr>
              <a:t> QA </a:t>
            </a:r>
            <a:r>
              <a:rPr lang="en-US" sz="1400" i="1" dirty="0" err="1">
                <a:latin typeface="Arial" panose="020B0604020202020204" pitchFamily="34" charset="0"/>
              </a:rPr>
              <a:t>Suitmedia</a:t>
            </a:r>
            <a:endParaRPr kumimoji="0" lang="id-ID" sz="1400" b="0" i="1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013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B4D59-4607-036E-DA30-F60B46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FBF4F-3848-4562-DD7F-FC9CC288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id-ID" noProof="0" smtClean="0"/>
              <a:t>4</a:t>
            </a:fld>
            <a:endParaRPr lang="id-ID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C4777-6161-E934-0B06-29C10246F7C4}"/>
              </a:ext>
            </a:extLst>
          </p:cNvPr>
          <p:cNvSpPr txBox="1"/>
          <p:nvPr/>
        </p:nvSpPr>
        <p:spPr>
          <a:xfrm>
            <a:off x="320247" y="126580"/>
            <a:ext cx="7427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noProof="0" dirty="0"/>
              <a:t>Examples of TCS Used by the Company</a:t>
            </a:r>
            <a:endParaRPr lang="id-ID" sz="3200" b="1" noProof="0" dirty="0"/>
          </a:p>
        </p:txBody>
      </p:sp>
      <p:pic>
        <p:nvPicPr>
          <p:cNvPr id="7" name="Picture 4" descr="Road Vectors &amp; Illustrations for Free Download | Freepik">
            <a:extLst>
              <a:ext uri="{FF2B5EF4-FFF2-40B4-BE49-F238E27FC236}">
                <a16:creationId xmlns:a16="http://schemas.microsoft.com/office/drawing/2014/main" id="{1C0690B6-5329-0BC3-D2DA-C12133E15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76" y="5775102"/>
            <a:ext cx="1681424" cy="107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3D86565E-240B-A06B-7C6B-914A820AC279}"/>
              </a:ext>
            </a:extLst>
          </p:cNvPr>
          <p:cNvSpPr txBox="1"/>
          <p:nvPr/>
        </p:nvSpPr>
        <p:spPr>
          <a:xfrm>
            <a:off x="320247" y="6380925"/>
            <a:ext cx="9577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noProof="0" dirty="0" err="1"/>
              <a:t>Reference</a:t>
            </a:r>
            <a:r>
              <a:rPr lang="id-ID" sz="1400" noProof="0" dirty="0"/>
              <a:t>:</a:t>
            </a:r>
            <a:r>
              <a:rPr lang="en-US" sz="1400" noProof="0" dirty="0"/>
              <a:t> </a:t>
            </a:r>
            <a:r>
              <a:rPr lang="en-US" sz="1400" noProof="0" dirty="0">
                <a:hlinkClick r:id="rId4"/>
              </a:rPr>
              <a:t>Link Proposal BAB 1 &amp; 2</a:t>
            </a:r>
            <a:endParaRPr lang="id-ID" sz="1400" noProof="0" dirty="0"/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87680521-33C8-C075-B346-B88723D3C5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233"/>
          <a:stretch>
            <a:fillRect/>
          </a:stretch>
        </p:blipFill>
        <p:spPr>
          <a:xfrm>
            <a:off x="320247" y="795087"/>
            <a:ext cx="11637014" cy="504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9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F4A7-9334-C0D5-72B8-4F1DC71E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2A2009-DCCE-0E5D-82B8-200667D04258}"/>
              </a:ext>
            </a:extLst>
          </p:cNvPr>
          <p:cNvSpPr/>
          <p:nvPr/>
        </p:nvSpPr>
        <p:spPr>
          <a:xfrm>
            <a:off x="11286308" y="0"/>
            <a:ext cx="9056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36DFE-F2AA-CB6A-792E-7BFD30AE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>
                <a:solidFill>
                  <a:schemeClr val="bg1"/>
                </a:solidFill>
              </a:rPr>
              <a:t>5</a:t>
            </a:fld>
            <a:endParaRPr lang="en-JP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28BF9-3327-51E1-7D44-7EE1E3231B89}"/>
              </a:ext>
            </a:extLst>
          </p:cNvPr>
          <p:cNvSpPr txBox="1"/>
          <p:nvPr/>
        </p:nvSpPr>
        <p:spPr>
          <a:xfrm>
            <a:off x="386232" y="363682"/>
            <a:ext cx="271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Task Details</a:t>
            </a:r>
            <a:endParaRPr lang="en-JP" sz="3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CDCF39-2952-7A24-82B2-539399ED4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33991"/>
              </p:ext>
            </p:extLst>
          </p:nvPr>
        </p:nvGraphicFramePr>
        <p:xfrm>
          <a:off x="386232" y="1285087"/>
          <a:ext cx="935005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893">
                  <a:extLst>
                    <a:ext uri="{9D8B030D-6E8A-4147-A177-3AD203B41FA5}">
                      <a16:colId xmlns:a16="http://schemas.microsoft.com/office/drawing/2014/main" val="743385824"/>
                    </a:ext>
                  </a:extLst>
                </a:gridCol>
                <a:gridCol w="248194">
                  <a:extLst>
                    <a:ext uri="{9D8B030D-6E8A-4147-A177-3AD203B41FA5}">
                      <a16:colId xmlns:a16="http://schemas.microsoft.com/office/drawing/2014/main" val="1298280828"/>
                    </a:ext>
                  </a:extLst>
                </a:gridCol>
                <a:gridCol w="7175963">
                  <a:extLst>
                    <a:ext uri="{9D8B030D-6E8A-4147-A177-3AD203B41FA5}">
                      <a16:colId xmlns:a16="http://schemas.microsoft.com/office/drawing/2014/main" val="1858608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Research on Bayesian Optimization for Test Case Optimization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8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Understanding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Bayesian Optimization Works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the Context of My Research Case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49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Key Results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Successfully Understanding How Bayesian Optimization Works in General Cases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Successfully Understanding the Components of Bayesian Optimization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Challenges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Still Confused About How to Implement Bayesian Optimization in My Specific Case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31933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E6D1F8-E40A-FE0D-FE35-58CCFEFE4C8E}"/>
              </a:ext>
            </a:extLst>
          </p:cNvPr>
          <p:cNvSpPr/>
          <p:nvPr/>
        </p:nvSpPr>
        <p:spPr>
          <a:xfrm>
            <a:off x="6570617" y="875316"/>
            <a:ext cx="2873829" cy="46609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Section 1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03278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F626-AAC2-A492-F22A-C7333C86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CF097-4C6C-99BF-1335-CDE31269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6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DCC38-EC7D-21E4-65F5-DAB1973F26B9}"/>
              </a:ext>
            </a:extLst>
          </p:cNvPr>
          <p:cNvSpPr txBox="1"/>
          <p:nvPr/>
        </p:nvSpPr>
        <p:spPr>
          <a:xfrm>
            <a:off x="386232" y="363682"/>
            <a:ext cx="2192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b="1" dirty="0"/>
              <a:t>Next 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D1FBD-C087-318F-E0D9-43AB353F8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039874"/>
              </p:ext>
            </p:extLst>
          </p:nvPr>
        </p:nvGraphicFramePr>
        <p:xfrm>
          <a:off x="386232" y="1285087"/>
          <a:ext cx="9350050" cy="2011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882">
                  <a:extLst>
                    <a:ext uri="{9D8B030D-6E8A-4147-A177-3AD203B41FA5}">
                      <a16:colId xmlns:a16="http://schemas.microsoft.com/office/drawing/2014/main" val="7433858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8280828"/>
                    </a:ext>
                  </a:extLst>
                </a:gridCol>
                <a:gridCol w="6744888">
                  <a:extLst>
                    <a:ext uri="{9D8B030D-6E8A-4147-A177-3AD203B41FA5}">
                      <a16:colId xmlns:a16="http://schemas.microsoft.com/office/drawing/2014/main" val="1858608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Implementation of Prompting Techniques and the Reflector Agent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78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Related Mindmap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1.3.1.4 Reflector Agent</a:t>
                      </a:r>
                      <a:endParaRPr lang="en-JP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24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Capable of self-reflection with lightweight performance and high accuracy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346917"/>
                  </a:ext>
                </a:extLst>
              </a:tr>
              <a:tr h="630073"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Predicted Step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1933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C55389-BF78-A101-A250-8AC869FFBFE3}"/>
              </a:ext>
            </a:extLst>
          </p:cNvPr>
          <p:cNvSpPr/>
          <p:nvPr/>
        </p:nvSpPr>
        <p:spPr>
          <a:xfrm>
            <a:off x="7876903" y="877893"/>
            <a:ext cx="1567543" cy="4660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Plan 1</a:t>
            </a:r>
          </a:p>
        </p:txBody>
      </p:sp>
      <p:pic>
        <p:nvPicPr>
          <p:cNvPr id="14" name="Picture 13" descr="A person holding a pencil next to a clipboard&#10;&#10;Description automatically generated">
            <a:extLst>
              <a:ext uri="{FF2B5EF4-FFF2-40B4-BE49-F238E27FC236}">
                <a16:creationId xmlns:a16="http://schemas.microsoft.com/office/drawing/2014/main" id="{382B09E1-28A4-45D6-E993-6A555C7E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892" y="4608932"/>
            <a:ext cx="2623751" cy="174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9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1B63-9D06-4693-D1C0-D5CA755B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4655-3655-F13C-3221-359BA5E1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70431-9BB1-4746-95C8-3F9132914253}" type="slidenum">
              <a:rPr lang="en-JP" smtClean="0"/>
              <a:t>7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0618B-FA30-1058-2C92-757451BED325}"/>
              </a:ext>
            </a:extLst>
          </p:cNvPr>
          <p:cNvSpPr txBox="1"/>
          <p:nvPr/>
        </p:nvSpPr>
        <p:spPr>
          <a:xfrm>
            <a:off x="4011418" y="2921168"/>
            <a:ext cx="51160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Thank You! 😊 </a:t>
            </a:r>
            <a:endParaRPr lang="en-JP" sz="6000" b="1" dirty="0"/>
          </a:p>
        </p:txBody>
      </p:sp>
      <p:pic>
        <p:nvPicPr>
          <p:cNvPr id="11" name="Picture 10" descr="A person holding a pencil next to a clipboard&#10;&#10;Description automatically generated">
            <a:extLst>
              <a:ext uri="{FF2B5EF4-FFF2-40B4-BE49-F238E27FC236}">
                <a16:creationId xmlns:a16="http://schemas.microsoft.com/office/drawing/2014/main" id="{D1DFB27E-F9E2-6B14-80AA-5F8F57004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892" y="4608932"/>
            <a:ext cx="2623751" cy="174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8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CAC9C8C-FD8B-40B1-BCD0-EBECAB251B8B}">
  <we:reference id="wa200010001" version="1.0.0.1" store="id-ID" storeType="OMEX"/>
  <we:alternateReferences>
    <we:reference id="WA200010001" version="1.0.0.1" store="" storeType="OMEX"/>
  </we:alternateReferences>
  <we:properties>
    <we:property name="claude.fileId" value="&quot;4dd7812d-2deb-4708-9041-75e33096d35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6469</TotalTime>
  <Words>212</Words>
  <Application>Microsoft Office PowerPoint</Application>
  <PresentationFormat>Layar Lebar</PresentationFormat>
  <Paragraphs>63</Paragraphs>
  <Slides>7</Slides>
  <Notes>6</Notes>
  <HiddenSlides>2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 Black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</dc:creator>
  <cp:lastModifiedBy>raditya aryabudhi ramadhan</cp:lastModifiedBy>
  <cp:revision>107</cp:revision>
  <dcterms:created xsi:type="dcterms:W3CDTF">2024-10-20T09:35:25Z</dcterms:created>
  <dcterms:modified xsi:type="dcterms:W3CDTF">2026-08-24T07:30:58Z</dcterms:modified>
</cp:coreProperties>
</file>